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834640"/>
            <a:ext cx="274320" cy="274320"/>
          </a:xfrm>
          <a:prstGeom prst="ellipse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697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AI SIFI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E4E7EB"/>
                </a:solidFill>
                <a:latin typeface="Calibri"/>
              </a:rPr>
              <a:t>Where is the systemic risk in the AI buildout?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A surveillance framework for the 45 institutions whose simultaneous stress would re-rate the entire AI compute theme.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C9EFF"/>
                </a:solidFill>
                <a:latin typeface="Calibri"/>
              </a:rPr>
              <a:t>github.com/Ann100182/ai-sifi-monitor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What investors should be asking at today's concentration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607040" cy="21031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— Michael Cembalest, JPM 2026 Outlook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4E7EB"/>
                </a:solidFill>
                <a:latin typeface="Calibri"/>
              </a:rPr>
              <a:t>"When markets are highly concentrated and near all-time highs, the right question to ask is: what could go wrong."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51960"/>
            <a:ext cx="3474720" cy="173736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Share of S&amp;P 500 returns from 42 AI stocks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4C9EFF"/>
                </a:solidFill>
                <a:latin typeface="Calibri"/>
              </a:rPr>
              <a:t>65–75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5074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C9EFF"/>
                </a:solidFill>
                <a:latin typeface="Calibri"/>
              </a:rPr>
              <a:t>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251960"/>
            <a:ext cx="3474720" cy="173736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480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Hyperscaler capex since ChatGPT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4C9EFF"/>
                </a:solidFill>
                <a:latin typeface="Calibri"/>
              </a:rPr>
              <a:t>$1.3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74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C9EFF"/>
                </a:solidFill>
                <a:latin typeface="Calibri"/>
              </a:rPr>
              <a:t>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251960"/>
            <a:ext cx="3474720" cy="173736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Tech capex contribution to US GDP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8463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4C9EFF"/>
                </a:solidFill>
                <a:latin typeface="Calibri"/>
              </a:rPr>
              <a:t>40–45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5074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4C9EFF"/>
                </a:solidFill>
                <a:latin typeface="Calibri"/>
              </a:rPr>
              <a:t>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The 2008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Interlocking exposures that no single balance sheet makes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394960" cy="4206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PRE-2008 BANKS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03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AAA-rated MBS tranches circulated between banks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Off-balance-sheet SIVs held the risky layers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Monoline insurers backstopped the whole structure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Correlations spiked to 1.0 in the stress event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Recovery: ~5 years of recapitalization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828800"/>
            <a:ext cx="5394960" cy="4206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39" y="2057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C9EFF"/>
                </a:solidFill>
                <a:latin typeface="Calibri"/>
              </a:rPr>
              <a:t>TODAY'S AI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39" y="25603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NVIDIA invests in neoclouds that rent GPUs back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Meta/Hyperion SPV holds $27B debt off-books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Oracle committed to deliver $60B/yr to OpenAI (not yet earned)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4 semi + 4 hyperscalers = 20% of DM market cap</a:t>
            </a:r>
          </a:p>
          <a:p>
            <a:pPr algn="l"/>
            <a:r>
              <a:rPr sz="1400" b="0">
                <a:solidFill>
                  <a:srgbClr val="E4E7EB"/>
                </a:solidFill>
                <a:latin typeface="Calibri"/>
              </a:rPr>
              <a:t>• Recovery: 5–10 years to rebuild compute 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Four failure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What Could Go Wrong — from Cembalest's JPM 2026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74C3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011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4E7EB"/>
                </a:solidFill>
                <a:latin typeface="Calibri"/>
              </a:rPr>
              <a:t>MONETIZATION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688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Hyperscaler $1.3T capex vs. actual AI revenue. If ROI disappoints like Metaverse 2022, Mag 7 could halve.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783080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19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39C12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2011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4E7EB"/>
                </a:solidFill>
                <a:latin typeface="Calibri"/>
              </a:rPr>
              <a:t>US POWER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2468880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25 GW of derated capacity added in 2024. OpenAI alone announced 30 GW of partnerships. Gas turbines on 3-7 year backlog.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1C40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206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4E7EB"/>
                </a:solidFill>
                <a:latin typeface="Calibri"/>
              </a:rPr>
              <a:t>CHINA SCALES THE MOAT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663439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Huawei Ascend 910C now 75%+ of China's AI chip production. EUV prototype targeted 2028-2030. One-to-three generations behind — but moving.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3977639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19" y="42062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74C3C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42062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4E7EB"/>
                </a:solidFill>
                <a:latin typeface="Calibri"/>
              </a:rPr>
              <a:t>TAIWAN STRAIT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4663439"/>
            <a:ext cx="4206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90% of leading-edge logic from TSMC. Taiwan imports 90% of energy; 10-11 days of LNG storage. US onshoring ~30-35% by 2030.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The 8-tier AI compute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Failure of a lower-tier node cascades up — power stalls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105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AI Software, Apps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828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470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Palantir, ServiceNow, Palo Alto, Crowdstrike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28600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591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591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Hyperscalers &amp;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957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Microsoft, Google, Amazon, Meta, Oracle, CoreWeave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83464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077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29077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AI Hardware &amp; Networking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26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443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Super Micro, Dell, Arista, HP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8328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4564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4564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Semi Manufacturing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4747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9300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TSMC — single point of failure for leading-edge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93192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050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0050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Semi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023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0416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NVIDIA, AMD, Broadcom, Micron, Intel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48056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5537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553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Semi Equipment &amp; EDA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5902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ASML (EUV monopoly), Cadence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02920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1023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1023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Grid &amp; Electrical Capital Equipment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1389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GE Vernova, Eaton, Quanta, Trane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577840"/>
            <a:ext cx="10607040" cy="475488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65099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C9EFF"/>
                </a:solidFill>
                <a:latin typeface="Calibri"/>
              </a:rPr>
              <a:t>T1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4480" y="56509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Power Generation (Utilities)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669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6875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Constellation, Vistra, NextEra, Entergy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45-player universe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Status counts from the composite risk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10607040" cy="9601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74C3C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745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Calibri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8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NVDA · TSM · ORCL · CRWV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34639"/>
            <a:ext cx="10607040" cy="9601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19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39C12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7179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39C12"/>
                </a:solidFill>
                <a:latin typeface="Calibri"/>
              </a:rPr>
              <a:t>ELEVATED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37559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AVGO · ASML · AMD · INTC · GEV · META · AMZN · MSFT · MU · SMCI · TSLA · CEG · VST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31920"/>
            <a:ext cx="10607040" cy="9601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1C40F"/>
                </a:solidFill>
                <a:latin typeface="Calibri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69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  <a:latin typeface="Calibri"/>
              </a:rPr>
              <a:t>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4348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Semi + hyperscaler second rank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29200"/>
            <a:ext cx="10607040" cy="9601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2ECC71"/>
                </a:solidFill>
                <a:latin typeface="Calibr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166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  <a:latin typeface="Calibri"/>
              </a:rPr>
              <a:t>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3212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Mid-tier utilities + security + NXP · HPQ · JCI · NI · PEG · IBM · PANW · FTNT · TT · 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4 critical nodes — where the cascade starts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116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4E7EB"/>
                </a:solidFill>
                <a:latin typeface="Consolas"/>
              </a:rPr>
              <a:t>NVDA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Tier 4 — Semi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NVIDIA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Blackwell/Rubin roadmap owns inference. Vendor-financing circularity: invests in neoclouds that rent GPUs to its own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783080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783080"/>
            <a:ext cx="91440" cy="20116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19" y="1965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4E7EB"/>
                </a:solidFill>
                <a:latin typeface="Consolas"/>
              </a:rPr>
              <a:t>TSM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59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Tier 5 — Semi Mfg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19" y="2468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Taiwan Semiconductor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19" y="28346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Manufactures ~90% of leading-edge logic. Taiwan Strait risk + 10-day LNG storage + US onshoring gap through 2030.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77639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77639"/>
            <a:ext cx="91440" cy="20116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60519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4E7EB"/>
                </a:solidFill>
                <a:latin typeface="Consolas"/>
              </a:rPr>
              <a:t>ORCL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2062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Tier 7 — Hyperscalers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6343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Oracle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29199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Committed $60B/yr compute to OpenAI (not yet earned). Stock -35% since September, CDS +90bps. First hyperscaler to visibly lever up.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3977639"/>
            <a:ext cx="5394960" cy="201168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79" y="3977639"/>
            <a:ext cx="91440" cy="20116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19" y="4160519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4E7EB"/>
                </a:solidFill>
                <a:latin typeface="Consolas"/>
              </a:rPr>
              <a:t>CRWV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42062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Tier 7 — Hyperscalers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19" y="466343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4E7EB"/>
                </a:solidFill>
                <a:latin typeface="Calibri"/>
              </a:rPr>
              <a:t>CoreWeave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19" y="5029199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Pure-play neocloud, most levered to GPU rental rates. Stock -50% from June peak; H100 rental rates down 20-25% YoY.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Tab 1  ·  Portfolio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Risk × Investment Matrix for every player, sidebar tier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0F131A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[ live preview — see dashboard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C9EFF"/>
                </a:solidFill>
                <a:latin typeface="Calibri"/>
              </a:rPr>
              <a:t>PORTFOLIO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localhost:8501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828800"/>
            <a:ext cx="3474720" cy="4206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WHAT'S ON THIS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Sidebar tier nav with per-layer thesis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Status badge: Critical / Elevated / Watch / Normal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Risk /10 and Invest /10 progress bars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One-line bull factor per player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Expandable live Yahoo Finance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Tab 2  ·  Vintage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$10,000 invested 5 / 10 / 15 years ago in top-N by market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0F131A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[ live preview — see dashboard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C9EFF"/>
                </a:solidFill>
                <a:latin typeface="Calibri"/>
              </a:rPr>
              <a:t>VINTAGE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localhost:8501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828800"/>
            <a:ext cx="3474720" cy="4206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WHAT'S ON THIS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Default: top 10 by current market cap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Per-ticker end value, CAGR, max drawdown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Growth-of-$10K line chart, horizon selector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Multiselect to override the default 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Tab 3  ·  News &amp; Risk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Bloomberg + Google News RSS tagged against 11-theme SIFI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0F131A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[ live preview — see dashboard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C9EFF"/>
                </a:solidFill>
                <a:latin typeface="Calibri"/>
              </a:rPr>
              <a:t>NEWS &amp; RISK 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localhost:8501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828800"/>
            <a:ext cx="3474720" cy="4206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WHAT'S ON THIS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Per-ticker news from Google News (aggregates Bloomberg, WSJ, Reuters)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Broad feeds: Bloomberg Markets, Tech, Opinion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Severity-weighted re-ranking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Flagged headlines with Critical/Watch markers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Tab 4  ·  Stack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Intra-tier best/worst on return, FCF margin, leverage, 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0F131A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[ live preview — see dashboard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4C9EFF"/>
                </a:solidFill>
                <a:latin typeface="Calibri"/>
              </a:rPr>
              <a:t>STACK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localhost:8501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828800"/>
            <a:ext cx="3474720" cy="4206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WHAT'S ON THIS 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108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Per-tier summary dashboard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YTD dispersion strip plot by tier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Expandable drilldown — concentrated tiers expanded by default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• Highlights intra-tier dispersion signal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Risk-scoring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Composite of fundamental risk + news-flagged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07040" cy="128016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COMPOSITE RISK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C9EFF"/>
                </a:solidFill>
                <a:latin typeface="Consolas"/>
              </a:rPr>
              <a:t>= tier_severity × 0.4   +   leverage_bucket × 0.3   +   concentration × 0.2   +   news_severity × 0.1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918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474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4E7EB"/>
                </a:solidFill>
                <a:latin typeface="Calibri"/>
              </a:rPr>
              <a:t>Tier severity (1-10)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T5 Semi Mfg → 10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T4 Design, T7 Hyperscalers → 8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T3 Equip/EDA → 7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T1 Utilities → 6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T8 Apps →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2918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474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4E7EB"/>
                </a:solidFill>
                <a:latin typeface="Calibri"/>
              </a:rPr>
              <a:t>Leverage bucket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319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ND/EBITDA from Yahoo Finance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Plus SPV debt (manual, from 10-Ks)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+2 if credit spread widening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+2 if debt-funded capex surge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291840"/>
            <a:ext cx="3474720" cy="274320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474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4E7EB"/>
                </a:solidFill>
                <a:latin typeface="Calibri"/>
              </a:rPr>
              <a:t>News severity (per theme)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93192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Taiwan/TSMC: 3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China sanctions: 3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US power: 3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OpenAI/vendor: 3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SPV leverage: 2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AI ROI skepticism: 2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...11 themes total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Zero API keys. Zero paid services. Entirely free-tier.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10607040" cy="777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08483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C9EFF"/>
                </a:solidFill>
                <a:latin typeface="Consolas"/>
              </a:rPr>
              <a:t>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2140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Dark theme, native tabs, free, fast iteration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88920"/>
            <a:ext cx="10607040" cy="777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Market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53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C9EFF"/>
                </a:solidFill>
                <a:latin typeface="Consolas"/>
              </a:rPr>
              <a:t>yfinance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9008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Prices + fundamentals, batched, no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10607040" cy="777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40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News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8221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C9EFF"/>
                </a:solidFill>
                <a:latin typeface="Consolas"/>
              </a:rPr>
              <a:t>feedparser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85876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Bloomberg Markets/Tech + Google News per ticker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26280"/>
            <a:ext cx="10607040" cy="777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6908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C9EFF"/>
                </a:solidFill>
                <a:latin typeface="Consolas"/>
              </a:rPr>
              <a:t>Plotly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72744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Interactive, dark-theme-aware, strip/bar/line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94960"/>
            <a:ext cx="10607040" cy="7772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Risk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5595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4C9EFF"/>
                </a:solidFill>
                <a:latin typeface="Consolas"/>
              </a:rPr>
              <a:t>Pandas + custom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59612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Keyword taxonomy + severity weights in data/risks.py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Where this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394960" cy="14173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▸  SPV / off-balance-sheet debt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231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Scrape 10-K operating leases, RVGs, project-finance obligations (Hyperion template)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783080"/>
            <a:ext cx="5394960" cy="14173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399" y="1965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▸  Options skew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79" y="24231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Tail-risk pricing for the 4 critical nodes — NVDA / TSM / ORCL / CRWV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83280"/>
            <a:ext cx="5394960" cy="14173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▸  Capacity price feeds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233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PJM / ERCOT auction prices as leading indicator for Tier 1 stress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383280"/>
            <a:ext cx="5394960" cy="14173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399" y="3566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▸  Credit spread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40233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5Y CDS deltas for ORCL / META / INTC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983480"/>
            <a:ext cx="5394960" cy="14173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▸  Satellite imagery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6235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Data center construction progress via Planet Labs / Umbra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983480"/>
            <a:ext cx="5394960" cy="141732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399" y="5166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▸  Export control scrapers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56235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Real-time BIS Entity List + Dutch export rulings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457200"/>
          </a:xfrm>
          <a:prstGeom prst="rect">
            <a:avLst/>
          </a:prstGeom>
          <a:solidFill>
            <a:srgbClr val="4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4E7EB"/>
                </a:solidFill>
                <a:latin typeface="Calibri"/>
              </a:rPr>
              <a:t>Thanks.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4E7EB"/>
                </a:solidFill>
                <a:latin typeface="Calibri"/>
              </a:rPr>
              <a:t>The dashboard, the thesis, and the source material.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474720"/>
            <a:ext cx="10607040" cy="2377440"/>
          </a:xfrm>
          <a:prstGeom prst="roundRect">
            <a:avLst>
              <a:gd name="adj" fmla="val 3000"/>
            </a:avLst>
          </a:prstGeom>
          <a:solidFill>
            <a:srgbClr val="141821"/>
          </a:solidFill>
          <a:ln w="9525">
            <a:solidFill>
              <a:srgbClr val="1C2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39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4C9EFF"/>
                </a:solidFill>
                <a:latin typeface="Consolas"/>
              </a:rPr>
              <a:t>github.com/Ann100182/ai-sifi-monitor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9204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Cembalest, M. — Smothering Heights (JPM 2026 Outlook, Jan 2026)</a:t>
            </a:r>
          </a:p>
          <a:p>
            <a:pPr algn="l"/>
            <a:r>
              <a:rPr sz="1200" b="0">
                <a:solidFill>
                  <a:srgbClr val="E4E7EB"/>
                </a:solidFill>
                <a:latin typeface="Calibri"/>
              </a:rPr>
              <a:t>Tyler, L. — Financing AI (Morgan Stanley, 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15 /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SIFI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